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47" r:id="rId8"/>
    <p:sldId id="302" r:id="rId9"/>
    <p:sldId id="339" r:id="rId10"/>
    <p:sldId id="348" r:id="rId11"/>
    <p:sldId id="349" r:id="rId12"/>
    <p:sldId id="350" r:id="rId13"/>
    <p:sldId id="351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3925E-75D1-405D-9C5D-5F1ED4C6BCF8}" v="681" dt="2026-09-08T18:20:12.99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transition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transition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transition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transition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transition>
    <p:fade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transition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transition>
    <p:fade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transition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transition>
    <p:fade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transition>
    <p:fade/>
  </p:transition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transition>
    <p:fade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transition>
    <p:fade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transition>
    <p:fade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transition>
    <p:fade/>
  </p:transition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transition>
    <p:fade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31720" y="4815640"/>
            <a:ext cx="4349979" cy="8823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Kesheka Puwanesh</a:t>
            </a:r>
            <a:endParaRPr lang="en-US"/>
          </a:p>
          <a:p>
            <a:r>
              <a:rPr lang="en-US" sz="1800" dirty="0">
                <a:solidFill>
                  <a:schemeClr val="tx1"/>
                </a:solidFill>
                <a:latin typeface="Times New Roman"/>
                <a:cs typeface="Times New Roman"/>
              </a:rPr>
              <a:t>SRM Institute of Science and Technology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26" y="2729929"/>
            <a:ext cx="8933980" cy="1390624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/>
                <a:cs typeface="Times New Roman"/>
              </a:rPr>
              <a:t>Project Title -</a:t>
            </a:r>
            <a:br>
              <a:rPr lang="en-GB" sz="3600" b="1" u="sng" dirty="0">
                <a:latin typeface="Times New Roman"/>
                <a:ea typeface="+mn-lt"/>
                <a:cs typeface="Times New Roman"/>
              </a:rPr>
            </a:br>
            <a:r>
              <a:rPr lang="en-GB" sz="3600" b="1" u="sng" dirty="0">
                <a:latin typeface="Times New Roman"/>
                <a:ea typeface="+mn-lt"/>
                <a:cs typeface="Times New Roman"/>
              </a:rPr>
              <a:t>Seasonal Agriculture Performance Analysis</a:t>
            </a:r>
            <a:endParaRPr lang="en-IN" sz="3600" b="1" u="sng">
              <a:latin typeface="Times New Roman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570" y="4816551"/>
            <a:ext cx="39592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AICTE STU ID :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STU6a5e637ff1bdb1784570751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FF457-A76C-D977-C096-55C20BB9A61A}"/>
              </a:ext>
            </a:extLst>
          </p:cNvPr>
          <p:cNvSpPr txBox="1"/>
          <p:nvPr/>
        </p:nvSpPr>
        <p:spPr>
          <a:xfrm>
            <a:off x="678493" y="3898726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1" u="none" strike="noStrike" baseline="0" dirty="0">
                <a:solidFill>
                  <a:srgbClr val="000000"/>
                </a:solidFill>
                <a:latin typeface="Times New Roman"/>
              </a:rPr>
              <a:t>Data Analysis Using Python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GB" sz="1600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207" y="1332762"/>
            <a:ext cx="7318539" cy="53616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300" dirty="0">
                <a:solidFill>
                  <a:schemeClr val="tx1"/>
                </a:solidFill>
                <a:latin typeface="Times New Roman"/>
                <a:cs typeface="Times New Roman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/>
                <a:cs typeface="Times New Roman"/>
              </a:rPr>
              <a:t>However, raw agricultural data does not clearly explain how agricultural performance changes across seasons or what patterns can be observed in different seasonal conditions. </a:t>
            </a:r>
            <a:endParaRPr lang="en-IN" sz="23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300" dirty="0">
                <a:solidFill>
                  <a:schemeClr val="tx1"/>
                </a:solidFill>
                <a:latin typeface="Times New Roman"/>
                <a:cs typeface="Times New Roman"/>
              </a:rPr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3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Times New Roman"/>
                <a:cs typeface="Times New Roman"/>
              </a:rPr>
              <a:t>PROBLEM  STATEMENT</a:t>
            </a:r>
            <a:endParaRPr lang="en-IN" sz="4000" u="sng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44" y="502501"/>
            <a:ext cx="6276109" cy="8309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PROJECT DESCRIPTION</a:t>
            </a:r>
            <a:br>
              <a:rPr lang="en-GB" sz="4000" u="sng" dirty="0">
                <a:latin typeface="Times New Roman"/>
                <a:cs typeface="Times New Roman"/>
              </a:rPr>
            </a:br>
            <a:br>
              <a:rPr lang="en-GB" sz="4000" u="sng" dirty="0">
                <a:latin typeface="Times New Roman"/>
                <a:cs typeface="Times New Roman"/>
              </a:rPr>
            </a:br>
            <a:endParaRPr lang="en-GB" sz="4000" u="sng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EBB9996-D5C5-7512-4F9B-B1FCEF83CF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1577" y="1332762"/>
            <a:ext cx="7746511" cy="53720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This project analyzes 4,000 agricultural records to study performance across different seasons, crops, irrigation methods and states.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analysis includes data cleaning, missing value handling, statistical analysis and visualization. </a:t>
            </a:r>
            <a:endParaRPr lang="en-US">
              <a:solidFill>
                <a:schemeClr val="tx1"/>
              </a:solidFill>
              <a:latin typeface="Trebuchet MS" panose="020B0603020202020204"/>
              <a:ea typeface="+mn-lt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Key factors such as yield, production, revenue, profit, rainfall and water usage are compared to identify important patterns and relationships. </a:t>
            </a:r>
            <a:endParaRPr lang="en-US">
              <a:solidFill>
                <a:schemeClr val="tx1"/>
              </a:solidFill>
              <a:latin typeface="Trebuchet MS" panose="020B0603020202020204"/>
              <a:ea typeface="+mn-lt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project also includes state-wise, crop-wise and state-crop profitability analysis to support better agricultural planning.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102D3-3A4A-433D-B382-EC932758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107422-B69C-99BB-B1E7-2288711C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53" y="502501"/>
            <a:ext cx="8353341" cy="8309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WHO ARE THE END USERS?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4E4C0-6688-7645-EF55-ED6952763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1F2B57-8E1B-4227-DB0C-D12638902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E8EC02B-BE2C-B7B9-C0FF-4A62F2421F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1577" y="1332762"/>
            <a:ext cx="7746511" cy="53720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Farmers</a:t>
            </a:r>
            <a:r>
              <a:rPr lang="en-US" sz="2400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– to understand crop and seasonal performance. 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Agricultural planners 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– to support seasonal and resource planning. 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Agricultural organizations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– to compare performance across crops and regions. 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Researchers and analysts 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– to study agricultural patterns and trends. </a:t>
            </a: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Government and policy planners</a:t>
            </a:r>
            <a:r>
              <a:rPr lang="en-US" sz="2400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– to support data-based agricultural decisions. 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55301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670800" y="2212653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015" y="1275985"/>
            <a:ext cx="9027702" cy="52434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Programming Language</a:t>
            </a:r>
            <a:endParaRPr lang="en-IN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Python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Libraries</a:t>
            </a:r>
            <a:endParaRPr lang="en-IN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Pandas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NumPy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Matplotlib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Seaborn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SciPy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b="1" u="sng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Platform</a:t>
            </a:r>
            <a:endParaRPr lang="en-IN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Google </a:t>
            </a:r>
            <a:r>
              <a:rPr lang="en-IN" sz="1800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Colab</a:t>
            </a: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Jupyter Notebook</a:t>
            </a:r>
            <a:endParaRPr lang="en-IN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sz="4000" u="sng" dirty="0">
                <a:latin typeface="Times New Roman"/>
                <a:cs typeface="Times New Roman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RESULTS </a:t>
            </a:r>
            <a:endParaRPr lang="en-IN" sz="4000" u="sng">
              <a:latin typeface="Times New Roman"/>
              <a:cs typeface="Times New Roman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5D3BB-D3D3-BDEF-B3EB-FE9DF8C96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" t="5011" r="7095" b="431"/>
          <a:stretch>
            <a:fillRect/>
          </a:stretch>
        </p:blipFill>
        <p:spPr>
          <a:xfrm>
            <a:off x="5268617" y="1272827"/>
            <a:ext cx="4359175" cy="4576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E230EC-F8EC-14CA-BEB7-8F6BCC556965}"/>
              </a:ext>
            </a:extLst>
          </p:cNvPr>
          <p:cNvSpPr txBox="1"/>
          <p:nvPr/>
        </p:nvSpPr>
        <p:spPr>
          <a:xfrm>
            <a:off x="678493" y="1195192"/>
            <a:ext cx="56053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Times New Roman"/>
                <a:cs typeface="Times New Roman"/>
              </a:rPr>
              <a:t>Distribution of Records by Season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B0D7653B-4F1A-8F7C-DD14-16B1A4D23C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948627"/>
            <a:ext cx="4489745" cy="30129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dataset contains records from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Kharif, Rabi and Zaid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seasons. 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Kharif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has the largest share of records.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Zaid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has the smallest share of records.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3908-5C4E-8820-D2D8-8EF6E1FB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A5985A-34D3-304D-100B-D507ECA8F0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9E995E3-84FD-AC66-969C-5FBFCB65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RESULTS </a:t>
            </a:r>
            <a:endParaRPr lang="en-IN" sz="4000" u="sng">
              <a:latin typeface="Times New Roman"/>
              <a:cs typeface="Times New Roman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BCD0384-B3C6-D3E9-0E7B-FC62FFDE6F4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225940E-0CCA-2DE8-BAD3-838FD41201C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ECA97-DE94-9EA8-B5F5-F0F0CB3680F5}"/>
              </a:ext>
            </a:extLst>
          </p:cNvPr>
          <p:cNvSpPr txBox="1"/>
          <p:nvPr/>
        </p:nvSpPr>
        <p:spPr>
          <a:xfrm>
            <a:off x="678493" y="1195192"/>
            <a:ext cx="56053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Times New Roman"/>
                <a:ea typeface="+mn-lt"/>
                <a:cs typeface="Times New Roman"/>
              </a:rPr>
              <a:t>Crop Distribution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7DA85F8-2EC3-790D-AFB3-499100A6D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948627"/>
            <a:ext cx="4489745" cy="30129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Rice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has the highest number of records in the dataset.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Wheat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and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Maize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also have a relatively large number of records.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Sugarcane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has the lowest number of records among the crops.</a:t>
            </a:r>
            <a:endParaRPr lang="en-US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0419D-371D-658E-CE47-64FB713C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4" r="149" b="223"/>
          <a:stretch>
            <a:fillRect/>
          </a:stretch>
        </p:blipFill>
        <p:spPr>
          <a:xfrm>
            <a:off x="5498600" y="1606853"/>
            <a:ext cx="6142596" cy="40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65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2220-AAD0-A132-EC15-DBD2F120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00D9D-4BA7-0D40-B8CA-961ADF538F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CACA89C-E0DA-0D7D-1295-C09A5E60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RESULTS </a:t>
            </a:r>
            <a:endParaRPr lang="en-IN" sz="4000" u="sng">
              <a:latin typeface="Times New Roman"/>
              <a:cs typeface="Times New Roman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9FA5C76-6F29-DF2E-553C-A564818B0B1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2CE6AB3-13A5-6C24-DC12-0F4F7996B2F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07CD0-823D-A285-C006-F237E7773F96}"/>
              </a:ext>
            </a:extLst>
          </p:cNvPr>
          <p:cNvSpPr txBox="1"/>
          <p:nvPr/>
        </p:nvSpPr>
        <p:spPr>
          <a:xfrm>
            <a:off x="678493" y="1195192"/>
            <a:ext cx="56053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Times New Roman"/>
                <a:ea typeface="+mn-lt"/>
                <a:cs typeface="Times New Roman"/>
              </a:rPr>
              <a:t>Irrigation Performance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09F97D3-8864-455F-AF40-2C735C5279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948627"/>
            <a:ext cx="4489745" cy="30129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Drip irrigation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has the highest average yield.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Sprinkler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has a higher average yield than Flood and Rainfed.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Rainfed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has the lowest average yield among the four methods.</a:t>
            </a:r>
            <a:endParaRPr lang="en-US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964422-EDB7-80BF-383F-EE834C819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75" r="1249" b="-466"/>
          <a:stretch>
            <a:fillRect/>
          </a:stretch>
        </p:blipFill>
        <p:spPr>
          <a:xfrm>
            <a:off x="5288724" y="1608097"/>
            <a:ext cx="6377240" cy="41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780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D852-8161-F84A-1376-90C1AD6B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9D7FFD-CA88-1EA8-B0EA-F758FA0B44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0230ED-EBB2-E8EB-5608-AF5B880D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RESULTS </a:t>
            </a:r>
            <a:endParaRPr lang="en-IN" sz="4000" u="sng">
              <a:latin typeface="Times New Roman"/>
              <a:cs typeface="Times New Roman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139186F-B482-E213-CDB3-2962B2CBBE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E2BC007-B89A-A589-825D-A3F9B359272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BE56E-1FAC-DA48-71F5-41DE28D66E98}"/>
              </a:ext>
            </a:extLst>
          </p:cNvPr>
          <p:cNvSpPr txBox="1"/>
          <p:nvPr/>
        </p:nvSpPr>
        <p:spPr>
          <a:xfrm>
            <a:off x="678493" y="1195192"/>
            <a:ext cx="56053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Times New Roman"/>
                <a:ea typeface="+mn-lt"/>
                <a:cs typeface="Times New Roman"/>
              </a:rPr>
              <a:t>Profitability Analysis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FEC6A9B-5B5F-5242-8DE9-043C16F449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948627"/>
            <a:ext cx="4489745" cy="38793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Kharif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shows the highest profit across the irrigation methods.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Zaid 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has much lower profitability, with some irrigation methods showing negative profit.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Drip irrigation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shows the highest average profit overall, especially during Kharif.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95D76-3D76-45DA-AF4B-F0C27498B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33" y="1606529"/>
            <a:ext cx="54102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940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7DB39-A6A9-F710-F80A-D38F0AB5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B5209-093D-2A4B-33EC-7863F6E48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8F2D5E-E158-1823-3598-DED95253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/>
                <a:cs typeface="Times New Roman"/>
              </a:rPr>
              <a:t>RESULTS </a:t>
            </a:r>
            <a:endParaRPr lang="en-IN" sz="4000" u="sng">
              <a:latin typeface="Times New Roman"/>
              <a:cs typeface="Times New Roman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7DA314C-6C48-8DEC-E061-514D79FB49E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3C6E221-6E40-C39A-3A74-4F710FC0597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AE9E2-0DE7-F751-8E3F-DBCB3D3A3D19}"/>
              </a:ext>
            </a:extLst>
          </p:cNvPr>
          <p:cNvSpPr txBox="1"/>
          <p:nvPr/>
        </p:nvSpPr>
        <p:spPr>
          <a:xfrm>
            <a:off x="678493" y="1195192"/>
            <a:ext cx="56053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latin typeface="Times New Roman"/>
                <a:ea typeface="+mn-lt"/>
                <a:cs typeface="Times New Roman"/>
              </a:rPr>
              <a:t>Water Usage And Production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E49D5DD5-F92C-B3AD-E78D-04E579465D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948627"/>
            <a:ext cx="4489745" cy="43491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Water usage and production show a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moderate positive relationship. </a:t>
            </a:r>
            <a:endParaRPr lang="en-US" sz="24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correlation between water usage and production is approximately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0.52. </a:t>
            </a:r>
            <a:endParaRPr lang="en-US" sz="24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This indicates that higher water usage is generally associated with higher production in the dataset, but it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does not prove causation.</a:t>
            </a:r>
            <a:endParaRPr lang="en-US" sz="24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6AE9E5-C6E8-ECDE-E9AC-B88C0D1E0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31" r="-278" b="-339"/>
          <a:stretch>
            <a:fillRect/>
          </a:stretch>
        </p:blipFill>
        <p:spPr>
          <a:xfrm>
            <a:off x="4780963" y="1607767"/>
            <a:ext cx="7087289" cy="448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88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5D3A929-AB60-885B-9457-A455C80D9E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755" y="1291011"/>
            <a:ext cx="6107690" cy="5006724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5348EA9-7147-FF1B-176E-5B141B02B22A}"/>
              </a:ext>
            </a:extLst>
          </p:cNvPr>
          <p:cNvSpPr txBox="1">
            <a:spLocks/>
          </p:cNvSpPr>
          <p:nvPr/>
        </p:nvSpPr>
        <p:spPr>
          <a:xfrm>
            <a:off x="681139" y="1280573"/>
            <a:ext cx="6911443" cy="46100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Extend the analysis using more years of agricultural data. </a:t>
            </a: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Include weather forecasts and real-time environmental data.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Build predictive models for crop yield and profitability.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Develop an interactive dashboard for easier analysis. 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Include more regions and crops for broader comparison.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3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Times New Roman"/>
                <a:cs typeface="Times New Roman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87503" y="1440320"/>
            <a:ext cx="595939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https://github.com/CyberskyKC/Seasonal-Agriculture-Performance-Analysis.git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4000" u="sng" dirty="0">
                <a:latin typeface="Times New Roman"/>
                <a:cs typeface="Times New Roman"/>
              </a:rPr>
              <a:t>VOIS Course completion certificate - </a:t>
            </a:r>
            <a:br>
              <a:rPr lang="en-IN" sz="4000" u="sng" dirty="0">
                <a:latin typeface="Times New Roman"/>
                <a:cs typeface="Times New Roman"/>
              </a:rPr>
            </a:br>
            <a:r>
              <a:rPr lang="en-IN" sz="4000" u="sng" dirty="0">
                <a:latin typeface="Times New Roman"/>
                <a:cs typeface="Times New Roman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7985B9-EF35-E534-90F9-EA395697A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8" y="1650825"/>
            <a:ext cx="7802803" cy="491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2" y="3079837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4000" b="1" u="sng" dirty="0">
                <a:solidFill>
                  <a:schemeClr val="tx1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356</cp:revision>
  <dcterms:created xsi:type="dcterms:W3CDTF">2021-07-11T13:13:15Z</dcterms:created>
  <dcterms:modified xsi:type="dcterms:W3CDTF">2026-09-08T18:23:39Z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